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ABABA-F34A-440A-BFC5-6FC9BEC4F0A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7E7B2D-7805-435C-87F2-C29A745557D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7E7B2D-7805-435C-87F2-C29A745557D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3B771EE0-06BF-4BCF-8A3C-D9DF79BFC9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B771EE0-06BF-4BCF-8A3C-D9DF79BFC9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B771EE0-06BF-4BCF-8A3C-D9DF79BFC9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3B771EE0-06BF-4BCF-8A3C-D9DF79BFC9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3B771EE0-06BF-4BCF-8A3C-D9DF79BFC94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B771EE0-06BF-4BCF-8A3C-D9DF79BFC94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771EE0-06BF-4BCF-8A3C-D9DF79BFC94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B771EE0-06BF-4BCF-8A3C-D9DF79BFC9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B771EE0-06BF-4BCF-8A3C-D9DF79BFC9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B771EE0-06BF-4BCF-8A3C-D9DF79BFC9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B771EE0-06BF-4BCF-8A3C-D9DF79BFC9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95319-0C44-4383-A64C-D56BBA9E702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771EE0-06BF-4BCF-8A3C-D9DF79BFC94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295319-0C44-4383-A64C-D56BBA9E702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hyperlink" Target="https://archive.ics.uci.edu/dataset/222/bank+marke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76981" y="993060"/>
            <a:ext cx="11838037"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3873910" y="1189703"/>
            <a:ext cx="10159" cy="566829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8239433" y="1189703"/>
            <a:ext cx="0" cy="5631298"/>
          </a:xfrm>
          <a:prstGeom prst="line">
            <a:avLst/>
          </a:prstGeom>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76981" y="1020426"/>
            <a:ext cx="1740309" cy="338554"/>
          </a:xfrm>
          <a:prstGeom prst="rect">
            <a:avLst/>
          </a:prstGeom>
          <a:noFill/>
        </p:spPr>
        <p:txBody>
          <a:bodyPr wrap="square" rtlCol="0">
            <a:spAutoFit/>
          </a:bodyPr>
          <a:lstStyle/>
          <a:p>
            <a:r>
              <a:rPr lang="vi-VN" sz="1600" b="1" dirty="0"/>
              <a:t>GIỚI THIỆU</a:t>
            </a:r>
            <a:endParaRPr lang="en-US" sz="1600" b="1" dirty="0"/>
          </a:p>
        </p:txBody>
      </p:sp>
      <p:sp>
        <p:nvSpPr>
          <p:cNvPr id="17" name="TextBox 16"/>
          <p:cNvSpPr txBox="1"/>
          <p:nvPr/>
        </p:nvSpPr>
        <p:spPr>
          <a:xfrm>
            <a:off x="177165" y="1301115"/>
            <a:ext cx="3696970" cy="3016885"/>
          </a:xfrm>
          <a:prstGeom prst="rect">
            <a:avLst/>
          </a:prstGeom>
          <a:noFill/>
        </p:spPr>
        <p:txBody>
          <a:bodyPr wrap="square" rtlCol="0">
            <a:noAutofit/>
          </a:bodyPr>
          <a:lstStyle/>
          <a:p>
            <a:pPr lvl="0">
              <a:lnSpc>
                <a:spcPct val="150000"/>
              </a:lnSpc>
            </a:pPr>
            <a:r>
              <a:rPr lang="vi-VN" sz="1100" b="1" dirty="0">
                <a:solidFill>
                  <a:schemeClr val="accent1">
                    <a:lumMod val="75000"/>
                  </a:schemeClr>
                </a:solidFill>
              </a:rPr>
              <a:t>Câu hỏi:</a:t>
            </a:r>
            <a:endParaRPr lang="vi-VN" sz="1100" b="1" dirty="0">
              <a:solidFill>
                <a:schemeClr val="accent1">
                  <a:lumMod val="75000"/>
                </a:schemeClr>
              </a:solidFill>
            </a:endParaRPr>
          </a:p>
          <a:p>
            <a:pPr marL="228600" lvl="0" indent="-228600">
              <a:lnSpc>
                <a:spcPct val="150000"/>
              </a:lnSpc>
              <a:buFont typeface="+mj-lt"/>
              <a:buAutoNum type="arabicPeriod"/>
            </a:pPr>
            <a:r>
              <a:rPr lang="vi-VN" sz="800" dirty="0"/>
              <a:t>Những yếu tố nào (nhân khẩu học, kinh tế vĩ mô, lịch sử liên hệ) là quan trọng nhất ảnh hưởng đến quyết định đăng ký tiền gửi có kỳ hạn của khách hàng?</a:t>
            </a:r>
            <a:endParaRPr lang="en-US" sz="800" dirty="0"/>
          </a:p>
          <a:p>
            <a:pPr marL="228600" lvl="0" indent="-228600">
              <a:lnSpc>
                <a:spcPct val="150000"/>
              </a:lnSpc>
              <a:buFont typeface="+mj-lt"/>
              <a:buAutoNum type="arabicPeriod"/>
            </a:pPr>
            <a:r>
              <a:rPr lang="vi-VN" sz="800" dirty="0"/>
              <a:t>Mô hình học máy có thể dự đoán chính xác khách hàng nào sẽ đồng ý (y = yes) với mức độ tin cậy và hiệu suất (ví dụ: F1-score) là bao nhiêu?</a:t>
            </a:r>
            <a:endParaRPr lang="en-US" sz="800" dirty="0"/>
          </a:p>
          <a:p>
            <a:pPr marL="228600" lvl="0" indent="-228600">
              <a:lnSpc>
                <a:spcPct val="150000"/>
              </a:lnSpc>
              <a:buFont typeface="+mj-lt"/>
              <a:buAutoNum type="arabicPeriod"/>
            </a:pPr>
            <a:r>
              <a:rPr lang="vi-VN" sz="800" dirty="0"/>
              <a:t>Khách hàng có thể được phân nhóm (segment) thành các cụm đặc trưng riêng biệt dựa trên hồ sơ và hành vi của họ không?</a:t>
            </a:r>
            <a:endParaRPr lang="en-US" sz="800" dirty="0"/>
          </a:p>
          <a:p>
            <a:pPr marL="228600" lvl="0" indent="-228600">
              <a:lnSpc>
                <a:spcPct val="150000"/>
              </a:lnSpc>
              <a:buFont typeface="+mj-lt"/>
              <a:buAutoNum type="arabicPeriod"/>
            </a:pPr>
            <a:r>
              <a:rPr lang="vi-VN" sz="800" dirty="0"/>
              <a:t>Cần có những chiến lược tiếp thị khác biệt nào cho từng cụm để tối ưu hóa hiệu quả chuyển đổi?</a:t>
            </a:r>
            <a:endParaRPr lang="en-US" sz="900" dirty="0"/>
          </a:p>
          <a:p>
            <a:pPr algn="l">
              <a:lnSpc>
                <a:spcPct val="150000"/>
              </a:lnSpc>
              <a:buClrTx/>
              <a:buSzTx/>
              <a:buFontTx/>
            </a:pPr>
            <a:r>
              <a:rPr lang="vi-VN" sz="1100" b="1" dirty="0">
                <a:solidFill>
                  <a:schemeClr val="accent1">
                    <a:lumMod val="75000"/>
                  </a:schemeClr>
                </a:solidFill>
              </a:rPr>
              <a:t>Mục tiêu:</a:t>
            </a:r>
            <a:endParaRPr lang="vi-VN" sz="1100" b="1" dirty="0">
              <a:solidFill>
                <a:schemeClr val="accent1">
                  <a:lumMod val="75000"/>
                </a:schemeClr>
              </a:solidFill>
            </a:endParaRPr>
          </a:p>
          <a:p>
            <a:pPr marL="171450" indent="-171450" algn="just">
              <a:lnSpc>
                <a:spcPct val="120000"/>
              </a:lnSpc>
              <a:spcBef>
                <a:spcPts val="0"/>
              </a:spcBef>
              <a:spcAft>
                <a:spcPts val="0"/>
              </a:spcAft>
              <a:buFont typeface="Arial" panose="020B0604020202020204" pitchFamily="34" charset="0"/>
              <a:buChar char="•"/>
            </a:pPr>
            <a:r>
              <a:rPr lang="vi-VN" sz="800" dirty="0"/>
              <a:t>Xây dựng mô hình dự đoán và phân khúc khách hàng để nâng cao hiệu quả chiến dịch tiếp thị tiền gửi có kỳ hạn.</a:t>
            </a:r>
            <a:endParaRPr lang="vi-VN" sz="800" dirty="0"/>
          </a:p>
          <a:p>
            <a:pPr marL="171450" indent="-171450" algn="just">
              <a:lnSpc>
                <a:spcPct val="120000"/>
              </a:lnSpc>
              <a:spcBef>
                <a:spcPts val="0"/>
              </a:spcBef>
              <a:spcAft>
                <a:spcPts val="0"/>
              </a:spcAft>
              <a:buClrTx/>
              <a:buSzTx/>
              <a:buFont typeface="Arial" panose="020B0604020202020204" pitchFamily="34" charset="0"/>
              <a:buChar char="•"/>
            </a:pPr>
            <a:r>
              <a:rPr lang="vi-VN" sz="800" dirty="0"/>
              <a:t>Chuyển đổi dữ liệu thô thành kiến thức hữu ích,hỗ trợ ra quyết định kinh doanh theo nguyên tắc lý thuyết của CRISP-DM.</a:t>
            </a:r>
            <a:endParaRPr lang="vi-VN" sz="800" dirty="0"/>
          </a:p>
          <a:p>
            <a:pPr marL="171450" indent="-171450" algn="just">
              <a:lnSpc>
                <a:spcPct val="120000"/>
              </a:lnSpc>
              <a:spcBef>
                <a:spcPts val="0"/>
              </a:spcBef>
              <a:spcAft>
                <a:spcPts val="0"/>
              </a:spcAft>
              <a:buClrTx/>
              <a:buSzTx/>
              <a:buFont typeface="Arial" panose="020B0604020202020204" pitchFamily="34" charset="0"/>
              <a:buChar char="•"/>
            </a:pPr>
            <a:r>
              <a:rPr lang="vi-VN" sz="800" dirty="0"/>
              <a:t>Góp phần giải quyết vấn đề lãng phí nguồn lực trong tiếp thị ngân hàng.</a:t>
            </a:r>
            <a:endParaRPr lang="vi-VN" sz="800" dirty="0"/>
          </a:p>
          <a:p>
            <a:endParaRPr lang="en-US" sz="900" dirty="0">
              <a:solidFill>
                <a:schemeClr val="accent1">
                  <a:lumMod val="75000"/>
                </a:schemeClr>
              </a:solidFill>
            </a:endParaRPr>
          </a:p>
        </p:txBody>
      </p:sp>
      <p:sp>
        <p:nvSpPr>
          <p:cNvPr id="18" name="TextBox 17"/>
          <p:cNvSpPr txBox="1"/>
          <p:nvPr/>
        </p:nvSpPr>
        <p:spPr>
          <a:xfrm>
            <a:off x="175895" y="5129530"/>
            <a:ext cx="1853565" cy="337185"/>
          </a:xfrm>
          <a:prstGeom prst="rect">
            <a:avLst/>
          </a:prstGeom>
          <a:noFill/>
        </p:spPr>
        <p:txBody>
          <a:bodyPr wrap="square" rtlCol="0">
            <a:spAutoFit/>
          </a:bodyPr>
          <a:lstStyle/>
          <a:p>
            <a:r>
              <a:rPr lang="vi-VN" sz="1600" b="1" dirty="0"/>
              <a:t>PHƯƠNG PHÁP</a:t>
            </a:r>
            <a:endParaRPr lang="en-US" sz="1600" b="1" dirty="0"/>
          </a:p>
        </p:txBody>
      </p:sp>
      <p:sp>
        <p:nvSpPr>
          <p:cNvPr id="19" name="TextBox 18"/>
          <p:cNvSpPr txBox="1"/>
          <p:nvPr/>
        </p:nvSpPr>
        <p:spPr>
          <a:xfrm>
            <a:off x="183415" y="4229528"/>
            <a:ext cx="2069689" cy="338554"/>
          </a:xfrm>
          <a:prstGeom prst="rect">
            <a:avLst/>
          </a:prstGeom>
          <a:noFill/>
        </p:spPr>
        <p:txBody>
          <a:bodyPr wrap="square" rtlCol="0">
            <a:spAutoFit/>
          </a:bodyPr>
          <a:lstStyle/>
          <a:p>
            <a:r>
              <a:rPr lang="vi-VN" sz="1600" b="1" dirty="0"/>
              <a:t>BỘ DỮ LIỆU</a:t>
            </a:r>
            <a:endParaRPr lang="en-US" sz="1600" b="1" dirty="0"/>
          </a:p>
        </p:txBody>
      </p:sp>
      <p:sp>
        <p:nvSpPr>
          <p:cNvPr id="20" name="TextBox 19"/>
          <p:cNvSpPr txBox="1"/>
          <p:nvPr/>
        </p:nvSpPr>
        <p:spPr>
          <a:xfrm>
            <a:off x="183515" y="4478020"/>
            <a:ext cx="3677285" cy="681355"/>
          </a:xfrm>
          <a:prstGeom prst="rect">
            <a:avLst/>
          </a:prstGeom>
          <a:noFill/>
        </p:spPr>
        <p:txBody>
          <a:bodyPr wrap="square" rtlCol="0">
            <a:spAutoFit/>
          </a:bodyPr>
          <a:lstStyle/>
          <a:p>
            <a:pPr>
              <a:lnSpc>
                <a:spcPct val="120000"/>
              </a:lnSpc>
              <a:spcBef>
                <a:spcPts val="0"/>
              </a:spcBef>
              <a:spcAft>
                <a:spcPts val="0"/>
              </a:spcAft>
            </a:pPr>
            <a:r>
              <a:rPr lang="vi-VN" sz="800" dirty="0"/>
              <a:t>Bộ </a:t>
            </a:r>
            <a:r>
              <a:rPr lang="vi-VN" sz="800" dirty="0"/>
              <a:t>dữ liệu sử dụng trong nghiên cứu được thu thập từ trang web UCI Machine Learning Repositoy. File dữ liệu chính là "bank-additional-full.csv“. Bộ dữ liệu có 41188 mẫu và 21 cột. Link::</a:t>
            </a:r>
            <a:r>
              <a:rPr lang="vi-VN" sz="800" dirty="0">
                <a:hlinkClick r:id="rId1"/>
              </a:rPr>
              <a:t>https://archive.ics.uci.edu/dataset/222/bank+marketing</a:t>
            </a:r>
            <a:endParaRPr lang="vi-VN" sz="800" dirty="0"/>
          </a:p>
        </p:txBody>
      </p:sp>
      <p:pic>
        <p:nvPicPr>
          <p:cNvPr id="1036" name="Picture 12" descr="What is Sai Gon University? Company Culture, Mission, Values | Glassdo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148" y="28922"/>
            <a:ext cx="947522" cy="94752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p:cNvSpPr txBox="1"/>
          <p:nvPr/>
        </p:nvSpPr>
        <p:spPr>
          <a:xfrm>
            <a:off x="1627505" y="5401310"/>
            <a:ext cx="2108200" cy="1428750"/>
          </a:xfrm>
          <a:prstGeom prst="rect">
            <a:avLst/>
          </a:prstGeom>
          <a:noFill/>
        </p:spPr>
        <p:txBody>
          <a:bodyPr wrap="square" rtlCol="0">
            <a:noAutofit/>
          </a:bodyPr>
          <a:lstStyle/>
          <a:p>
            <a:pPr marL="285750" indent="-285750">
              <a:lnSpc>
                <a:spcPct val="120000"/>
              </a:lnSpc>
              <a:spcBef>
                <a:spcPts val="0"/>
              </a:spcBef>
              <a:spcAft>
                <a:spcPts val="0"/>
              </a:spcAft>
              <a:buFont typeface="Arial" panose="020B0604020202020204" pitchFamily="34" charset="0"/>
              <a:buChar char="•"/>
            </a:pPr>
            <a:r>
              <a:rPr lang="vi-VN" sz="800" dirty="0">
                <a:latin typeface="Arial" panose="020B0604020202020204" pitchFamily="34" charset="0"/>
                <a:cs typeface="Arial" panose="020B0604020202020204" pitchFamily="34" charset="0"/>
              </a:rPr>
              <a:t>Áp dụng quy trình Khai phá dữ liệu (Data Mining) theo mô hình CRISP-DM (Cross-Industry Standard Process for Data Mining), một khung tiêu chuẩn được phát triển bởi Shearer (2000)</a:t>
            </a:r>
            <a:endParaRPr lang="vi-VN" sz="800" dirty="0">
              <a:latin typeface="Arial" panose="020B0604020202020204" pitchFamily="34" charset="0"/>
              <a:cs typeface="Arial" panose="020B0604020202020204" pitchFamily="34" charset="0"/>
            </a:endParaRPr>
          </a:p>
          <a:p>
            <a:pPr marL="285750" indent="-285750">
              <a:lnSpc>
                <a:spcPct val="120000"/>
              </a:lnSpc>
              <a:spcBef>
                <a:spcPts val="0"/>
              </a:spcBef>
              <a:spcAft>
                <a:spcPts val="0"/>
              </a:spcAft>
              <a:buFont typeface="Arial" panose="020B0604020202020204" pitchFamily="34" charset="0"/>
              <a:buChar char="•"/>
            </a:pPr>
            <a:r>
              <a:rPr lang="vi-VN" sz="800" dirty="0">
                <a:latin typeface="Arial" panose="020B0604020202020204" pitchFamily="34" charset="0"/>
                <a:cs typeface="Arial" panose="020B0604020202020204" pitchFamily="34" charset="0"/>
              </a:rPr>
              <a:t>Bao gồm sáu giai đoạn chính để đảm bảo tính hệ thống và khoa học trong việc xử lý dữ liệu lớn.</a:t>
            </a:r>
            <a:endParaRPr lang="en-US" sz="800" dirty="0">
              <a:latin typeface="Arial" panose="020B0604020202020204" pitchFamily="34" charset="0"/>
              <a:cs typeface="Arial" panose="020B0604020202020204" pitchFamily="34" charset="0"/>
            </a:endParaRPr>
          </a:p>
          <a:p>
            <a:pPr>
              <a:lnSpc>
                <a:spcPct val="120000"/>
              </a:lnSpc>
              <a:spcBef>
                <a:spcPts val="0"/>
              </a:spcBef>
              <a:spcAft>
                <a:spcPts val="0"/>
              </a:spcAft>
            </a:pPr>
            <a:endParaRPr lang="en-US" sz="800" dirty="0">
              <a:latin typeface="Arial" panose="020B0604020202020204" pitchFamily="34" charset="0"/>
              <a:cs typeface="Arial" panose="020B0604020202020204" pitchFamily="34" charset="0"/>
            </a:endParaRPr>
          </a:p>
        </p:txBody>
      </p:sp>
      <p:pic>
        <p:nvPicPr>
          <p:cNvPr id="38" name="Picture 2" descr="IMG_256"/>
          <p:cNvPicPr>
            <a:picLocks noChangeAspect="1"/>
          </p:cNvPicPr>
          <p:nvPr/>
        </p:nvPicPr>
        <p:blipFill>
          <a:blip r:embed="rId3"/>
          <a:stretch>
            <a:fillRect/>
          </a:stretch>
        </p:blipFill>
        <p:spPr>
          <a:xfrm>
            <a:off x="316046" y="5467776"/>
            <a:ext cx="1338719" cy="129401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1358</Words>
  <Application>WPS Presentation</Application>
  <PresentationFormat>Widescreen</PresentationFormat>
  <Paragraphs>23</Paragraphs>
  <Slides>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Arial</vt:lpstr>
      <vt:lpstr>Calibri</vt:lpstr>
      <vt:lpstr>DengXian</vt:lpstr>
      <vt:lpstr>Times New Roman</vt:lpstr>
      <vt:lpstr>Calibri Light</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Hữu Tấn</dc:creator>
  <cp:lastModifiedBy>Hoàng Sói</cp:lastModifiedBy>
  <cp:revision>6</cp:revision>
  <dcterms:created xsi:type="dcterms:W3CDTF">2025-11-01T04:29:00Z</dcterms:created>
  <dcterms:modified xsi:type="dcterms:W3CDTF">2026-09-22T02:01:10Z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3508B3F49FC943D5B1C8C261DD7279C0_12</vt:lpwstr>
  </property>
  <property fmtid="{D5CDD505-2E9C-101B-9397-08002B2CF9AE}" pid="3" name="KSOProductBuildVer">
    <vt:lpwstr>1033-12.1.0.28485</vt:lpwstr>
  </property>
</Properties>
</file>