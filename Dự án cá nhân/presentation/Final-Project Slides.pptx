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61" r:id="rId3"/>
    <p:sldId id="257" r:id="rId4"/>
    <p:sldId id="260" r:id="rId5"/>
    <p:sldId id="272" r:id="rId7"/>
    <p:sldId id="27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FEE039-675B-4040-B592-ABC76D1E8035}"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20C46-6C02-43A5-934D-472060139FD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20C46-6C02-43A5-934D-472060139FD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F546104-2617-420D-A91B-1CFEDE1B4CA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F546104-2617-420D-A91B-1CFEDE1B4CA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F546104-2617-420D-A91B-1CFEDE1B4CA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9F546104-2617-420D-A91B-1CFEDE1B4CA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9F546104-2617-420D-A91B-1CFEDE1B4CA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9F546104-2617-420D-A91B-1CFEDE1B4CA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546104-2617-420D-A91B-1CFEDE1B4CA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F546104-2617-420D-A91B-1CFEDE1B4CA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F546104-2617-420D-A91B-1CFEDE1B4CA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F546104-2617-420D-A91B-1CFEDE1B4CA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F546104-2617-420D-A91B-1CFEDE1B4CA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4AA200-7DC3-4D48-A3FB-796E822FAAC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546104-2617-420D-A91B-1CFEDE1B4CA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4AA200-7DC3-4D48-A3FB-796E822FAAC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latin typeface="Arial" panose="020B0604020202020204" pitchFamily="34" charset="0"/>
                <a:cs typeface="Arial" panose="020B0604020202020204" pitchFamily="34" charset="0"/>
              </a:rPr>
              <a:t>VỀ </a:t>
            </a:r>
            <a:r>
              <a:rPr lang="vi-VN" sz="4800" b="1" dirty="0">
                <a:latin typeface="Arial" panose="020B0604020202020204" pitchFamily="34" charset="0"/>
                <a:cs typeface="Arial" panose="020B0604020202020204" pitchFamily="34" charset="0"/>
              </a:rPr>
              <a:t>DỰ</a:t>
            </a:r>
            <a:r>
              <a:rPr lang="vi-VN" b="1" dirty="0">
                <a:latin typeface="Arial" panose="020B0604020202020204" pitchFamily="34" charset="0"/>
                <a:cs typeface="Arial" panose="020B0604020202020204" pitchFamily="34" charset="0"/>
              </a:rPr>
              <a:t> ÁN</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lnSpc>
                <a:spcPct val="150000"/>
              </a:lnSpc>
            </a:pPr>
            <a:r>
              <a:rPr lang="en-US" sz="3600" dirty="0" err="1">
                <a:latin typeface="Arial" panose="020B0604020202020204" pitchFamily="34" charset="0"/>
                <a:cs typeface="Arial" panose="020B0604020202020204" pitchFamily="34" charset="0"/>
              </a:rPr>
              <a:t>Tổng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quan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dự</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án</a:t>
            </a:r>
            <a:endParaRPr lang="en-US" sz="3600" dirty="0">
              <a:latin typeface="Arial" panose="020B0604020202020204" pitchFamily="34" charset="0"/>
              <a:cs typeface="Arial" panose="020B0604020202020204" pitchFamily="34" charset="0"/>
            </a:endParaRPr>
          </a:p>
          <a:p>
            <a:pPr>
              <a:lnSpc>
                <a:spcPct val="150000"/>
              </a:lnSpc>
            </a:pPr>
            <a:r>
              <a:rPr lang="vi-VN" sz="3600" dirty="0">
                <a:latin typeface="Arial" panose="020B0604020202020204" pitchFamily="34" charset="0"/>
                <a:cs typeface="Arial" panose="020B0604020202020204" pitchFamily="34" charset="0"/>
              </a:rPr>
              <a:t>Phương pháp nghiên cứu</a:t>
            </a:r>
            <a:endParaRPr lang="vi-VN" sz="3600" dirty="0">
              <a:latin typeface="Arial" panose="020B0604020202020204" pitchFamily="34" charset="0"/>
              <a:cs typeface="Arial" panose="020B0604020202020204" pitchFamily="34" charset="0"/>
            </a:endParaRPr>
          </a:p>
          <a:p>
            <a:pPr>
              <a:lnSpc>
                <a:spcPct val="150000"/>
              </a:lnSpc>
            </a:pPr>
            <a:r>
              <a:rPr lang="en-US" sz="3600" dirty="0" err="1">
                <a:latin typeface="Arial" panose="020B0604020202020204" pitchFamily="34" charset="0"/>
                <a:cs typeface="Arial" panose="020B0604020202020204" pitchFamily="34" charset="0"/>
              </a:rPr>
              <a:t>Những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phát</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hiện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chính</a:t>
            </a:r>
            <a:endParaRPr lang="vi-VN" sz="3600" dirty="0">
              <a:latin typeface="Arial" panose="020B0604020202020204" pitchFamily="34" charset="0"/>
              <a:cs typeface="Arial" panose="020B0604020202020204" pitchFamily="34" charset="0"/>
            </a:endParaRPr>
          </a:p>
          <a:p>
            <a:pPr>
              <a:lnSpc>
                <a:spcPct val="150000"/>
              </a:lnSpc>
            </a:pPr>
            <a:r>
              <a:rPr lang="vi-VN" sz="3600" dirty="0">
                <a:latin typeface="Arial" panose="020B0604020202020204" pitchFamily="34" charset="0"/>
                <a:cs typeface="Arial" panose="020B0604020202020204" pitchFamily="34" charset="0"/>
              </a:rPr>
              <a:t>Kết luận và hướng nghiên cứu tiếp theo</a:t>
            </a:r>
            <a:endParaRPr lang="vi-VN" sz="3600"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6142" y="427056"/>
            <a:ext cx="11130116" cy="2030095"/>
          </a:xfrm>
          <a:prstGeom prst="rect">
            <a:avLst/>
          </a:prstGeom>
          <a:noFill/>
        </p:spPr>
        <p:txBody>
          <a:bodyPr wrap="square" rtlCol="0">
            <a:spAutoFit/>
          </a:bodyPr>
          <a:lstStyle/>
          <a:p>
            <a:r>
              <a:rPr lang="vi-VN" sz="4000" b="1" dirty="0">
                <a:latin typeface="Arial" panose="020B0604020202020204" pitchFamily="34" charset="0"/>
                <a:cs typeface="Arial" panose="020B0604020202020204" pitchFamily="34" charset="0"/>
              </a:rPr>
              <a:t>TỔNG QUAN DỰ ÁN</a:t>
            </a:r>
            <a:endParaRPr lang="vi-VN" sz="4000" b="1" dirty="0">
              <a:latin typeface="Arial" panose="020B0604020202020204" pitchFamily="34" charset="0"/>
              <a:cs typeface="Arial" panose="020B0604020202020204" pitchFamily="34" charset="0"/>
            </a:endParaRPr>
          </a:p>
          <a:p>
            <a:endParaRPr lang="vi-VN" sz="4000" b="1" dirty="0">
              <a:latin typeface="Arial" panose="020B0604020202020204" pitchFamily="34" charset="0"/>
              <a:cs typeface="Arial" panose="020B0604020202020204" pitchFamily="34" charset="0"/>
            </a:endParaRPr>
          </a:p>
          <a:p>
            <a:r>
              <a:rPr lang="vi-VN" sz="2800" b="1" dirty="0">
                <a:latin typeface="Arial" panose="020B0604020202020204" pitchFamily="34" charset="0"/>
                <a:cs typeface="Arial" panose="020B0604020202020204" pitchFamily="34" charset="0"/>
              </a:rPr>
              <a:t>   - Bối cảnh nghiên cứu</a:t>
            </a:r>
            <a:endParaRPr lang="en-US" sz="2800" b="1"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 name="TextBox 2"/>
          <p:cNvSpPr txBox="1"/>
          <p:nvPr/>
        </p:nvSpPr>
        <p:spPr>
          <a:xfrm>
            <a:off x="294005" y="2206625"/>
            <a:ext cx="11603990" cy="2059940"/>
          </a:xfrm>
          <a:prstGeom prst="rect">
            <a:avLst/>
          </a:prstGeom>
          <a:noFill/>
        </p:spPr>
        <p:txBody>
          <a:bodyPr wrap="square" rtlCol="0">
            <a:noAutofit/>
          </a:bodyPr>
          <a:lstStyle/>
          <a:p>
            <a:pPr marL="342900" indent="-342900">
              <a:lnSpc>
                <a:spcPct val="120000"/>
              </a:lnSpc>
              <a:spcBef>
                <a:spcPts val="0"/>
              </a:spcBef>
              <a:spcAft>
                <a:spcPts val="0"/>
              </a:spcAft>
              <a:buFont typeface="Arial" panose="020B0604020202020204" pitchFamily="34" charset="0"/>
              <a:buChar char="•"/>
            </a:pPr>
            <a:r>
              <a:rPr lang="vi-VN" sz="2000" dirty="0"/>
              <a:t>Trong bối cảnh cạnh tranh gay gắt của ngành ngân hàng, việc tối ưu hóa các chiến dịch tiếp thị trực tiếp đóng vai trò quan trọng trong việc thu hút nguồn vốn ổn định, đặc biệt là sản phẩm tiền gửi có kỳ hạn.</a:t>
            </a:r>
            <a:endParaRPr lang="vi-VN" sz="2000" dirty="0"/>
          </a:p>
          <a:p>
            <a:pPr marL="342900" indent="-342900">
              <a:lnSpc>
                <a:spcPct val="120000"/>
              </a:lnSpc>
              <a:spcBef>
                <a:spcPts val="0"/>
              </a:spcBef>
              <a:spcAft>
                <a:spcPts val="0"/>
              </a:spcAft>
              <a:buFont typeface="Arial" panose="020B0604020202020204" pitchFamily="34" charset="0"/>
              <a:buChar char="•"/>
            </a:pPr>
            <a:r>
              <a:rPr lang="vi-VN" sz="2000" dirty="0"/>
              <a:t>Theo các nghiên cứu về tiếp thị tài chính, các chiến dịch truyền thống thường dựa vào tiếp cận đại trà, dẫn đến hiệu quả hạn chế do không tận dụng dữ liệu khách hàng một cách khoa học.</a:t>
            </a:r>
            <a:endParaRPr lang="en-US" sz="2000" dirty="0"/>
          </a:p>
          <a:p>
            <a:pPr marL="342900" indent="-342900">
              <a:lnSpc>
                <a:spcPct val="120000"/>
              </a:lnSpc>
              <a:spcBef>
                <a:spcPts val="0"/>
              </a:spcBef>
              <a:spcAft>
                <a:spcPts val="0"/>
              </a:spcAft>
              <a:buFont typeface="Arial" panose="020B0604020202020204" pitchFamily="34" charset="0"/>
              <a:buChar char="•"/>
            </a:pPr>
            <a:endParaRPr lang="en-US" sz="2000" dirty="0"/>
          </a:p>
        </p:txBody>
      </p:sp>
      <p:sp>
        <p:nvSpPr>
          <p:cNvPr id="4" name="TextBox 3"/>
          <p:cNvSpPr txBox="1"/>
          <p:nvPr/>
        </p:nvSpPr>
        <p:spPr>
          <a:xfrm>
            <a:off x="570271" y="4349174"/>
            <a:ext cx="5525729" cy="521970"/>
          </a:xfrm>
          <a:prstGeom prst="rect">
            <a:avLst/>
          </a:prstGeom>
          <a:noFill/>
        </p:spPr>
        <p:txBody>
          <a:bodyPr wrap="square" rtlCol="0">
            <a:spAutoFit/>
          </a:bodyPr>
          <a:lstStyle/>
          <a:p>
            <a:r>
              <a:rPr lang="vi-VN" sz="2800" b="1" dirty="0">
                <a:latin typeface="Arial" panose="020B0604020202020204" pitchFamily="34" charset="0"/>
                <a:cs typeface="Arial" panose="020B0604020202020204" pitchFamily="34" charset="0"/>
              </a:rPr>
              <a:t>- Bộ dữ </a:t>
            </a:r>
            <a:r>
              <a:rPr lang="vi-VN" sz="2800" b="1" dirty="0">
                <a:latin typeface="Arial" panose="020B0604020202020204" pitchFamily="34" charset="0"/>
                <a:cs typeface="Arial" panose="020B0604020202020204" pitchFamily="34" charset="0"/>
              </a:rPr>
              <a:t>liệu</a:t>
            </a:r>
            <a:endParaRPr lang="vi-VN" sz="2800" b="1" dirty="0">
              <a:latin typeface="Arial" panose="020B0604020202020204" pitchFamily="34" charset="0"/>
              <a:cs typeface="Arial" panose="020B0604020202020204" pitchFamily="34" charset="0"/>
            </a:endParaRPr>
          </a:p>
        </p:txBody>
      </p:sp>
      <p:sp>
        <p:nvSpPr>
          <p:cNvPr id="5" name="TextBox 4"/>
          <p:cNvSpPr txBox="1"/>
          <p:nvPr/>
        </p:nvSpPr>
        <p:spPr>
          <a:xfrm>
            <a:off x="295275" y="4953635"/>
            <a:ext cx="11603355" cy="1198880"/>
          </a:xfrm>
          <a:prstGeom prst="rect">
            <a:avLst/>
          </a:prstGeom>
          <a:noFill/>
        </p:spPr>
        <p:txBody>
          <a:bodyPr wrap="square" rtlCol="0">
            <a:spAutoFit/>
          </a:bodyPr>
          <a:lstStyle/>
          <a:p>
            <a:pPr marL="285750" indent="-285750">
              <a:lnSpc>
                <a:spcPct val="120000"/>
              </a:lnSpc>
              <a:spcBef>
                <a:spcPts val="0"/>
              </a:spcBef>
              <a:spcAft>
                <a:spcPts val="0"/>
              </a:spcAft>
              <a:buFont typeface="Arial" panose="020B0604020202020204" pitchFamily="34" charset="0"/>
              <a:buChar char="•"/>
            </a:pPr>
            <a:r>
              <a:rPr lang="vi-VN" sz="2000" dirty="0"/>
              <a:t>Bộ dữ liệu sử dụng trong nghiên cứu được thu thập từ trang web UCI Machine Learning Reposito</a:t>
            </a:r>
            <a:r>
              <a:rPr lang="vi-VN" sz="2000" dirty="0"/>
              <a:t>ry. File dữ liệu chính được sử dụng là "bank-additional-full.csv“.</a:t>
            </a:r>
            <a:endParaRPr lang="vi-VN" sz="2000" dirty="0"/>
          </a:p>
          <a:p>
            <a:pPr marL="285750" indent="-285750">
              <a:lnSpc>
                <a:spcPct val="120000"/>
              </a:lnSpc>
              <a:spcBef>
                <a:spcPts val="0"/>
              </a:spcBef>
              <a:spcAft>
                <a:spcPts val="0"/>
              </a:spcAft>
              <a:buFont typeface="Arial" panose="020B0604020202020204" pitchFamily="34" charset="0"/>
              <a:buChar char="•"/>
            </a:pPr>
            <a:r>
              <a:rPr lang="vi-VN" sz="2000" dirty="0"/>
              <a:t>Bộ dữ liệu bao </a:t>
            </a:r>
            <a:r>
              <a:rPr lang="vi-VN" sz="2000" dirty="0"/>
              <a:t>gồm 41.188 mẫu dữ liệu và 21 đặc trưng.</a:t>
            </a:r>
            <a:endParaRPr lang="vi-V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30620" y="1631950"/>
            <a:ext cx="4835525" cy="562610"/>
          </a:xfrm>
          <a:prstGeom prst="rect">
            <a:avLst/>
          </a:prstGeom>
          <a:noFill/>
        </p:spPr>
        <p:txBody>
          <a:bodyPr wrap="square" rtlCol="0">
            <a:noAutofit/>
          </a:bodyPr>
          <a:lstStyle/>
          <a:p>
            <a:r>
              <a:rPr lang="vi-VN" sz="2800" b="1" dirty="0">
                <a:latin typeface="Arial" panose="020B0604020202020204" pitchFamily="34" charset="0"/>
                <a:cs typeface="Arial" panose="020B0604020202020204" pitchFamily="34" charset="0"/>
              </a:rPr>
              <a:t>- </a:t>
            </a:r>
            <a:r>
              <a:rPr lang="en-GB" sz="2800" b="1" dirty="0" err="1">
                <a:latin typeface="Arial" panose="020B0604020202020204" pitchFamily="34" charset="0"/>
                <a:cs typeface="Arial" panose="020B0604020202020204" pitchFamily="34" charset="0"/>
              </a:rPr>
              <a:t>Mục</a:t>
            </a:r>
            <a:r>
              <a:rPr lang="en-GB" sz="2800" b="1" dirty="0">
                <a:latin typeface="Arial" panose="020B0604020202020204" pitchFamily="34" charset="0"/>
                <a:cs typeface="Arial" panose="020B0604020202020204" pitchFamily="34" charset="0"/>
              </a:rPr>
              <a:t> </a:t>
            </a:r>
            <a:r>
              <a:rPr lang="en-GB" sz="2800" b="1" dirty="0" err="1">
                <a:latin typeface="Arial" panose="020B0604020202020204" pitchFamily="34" charset="0"/>
                <a:cs typeface="Arial" panose="020B0604020202020204" pitchFamily="34" charset="0"/>
              </a:rPr>
              <a:t>tiêu</a:t>
            </a:r>
            <a:r>
              <a:rPr lang="en-GB" sz="2800" b="1" dirty="0">
                <a:latin typeface="Arial" panose="020B0604020202020204" pitchFamily="34" charset="0"/>
                <a:cs typeface="Arial" panose="020B0604020202020204" pitchFamily="34" charset="0"/>
              </a:rPr>
              <a:t> </a:t>
            </a:r>
            <a:r>
              <a:rPr lang="en-GB" sz="2800" b="1" dirty="0" err="1">
                <a:latin typeface="Arial" panose="020B0604020202020204" pitchFamily="34" charset="0"/>
                <a:cs typeface="Arial" panose="020B0604020202020204" pitchFamily="34" charset="0"/>
              </a:rPr>
              <a:t>nghiên</a:t>
            </a:r>
            <a:r>
              <a:rPr lang="en-GB" sz="2800" b="1" dirty="0">
                <a:latin typeface="Arial" panose="020B0604020202020204" pitchFamily="34" charset="0"/>
                <a:cs typeface="Arial" panose="020B0604020202020204" pitchFamily="34" charset="0"/>
              </a:rPr>
              <a:t> </a:t>
            </a:r>
            <a:r>
              <a:rPr lang="en-GB" sz="2800" b="1" dirty="0" err="1">
                <a:latin typeface="Arial" panose="020B0604020202020204" pitchFamily="34" charset="0"/>
                <a:cs typeface="Arial" panose="020B0604020202020204" pitchFamily="34" charset="0"/>
              </a:rPr>
              <a:t>cứu</a:t>
            </a:r>
            <a:endParaRPr lang="en-US" sz="2800" b="1" dirty="0">
              <a:latin typeface="Arial" panose="020B0604020202020204" pitchFamily="34" charset="0"/>
              <a:cs typeface="Arial" panose="020B0604020202020204" pitchFamily="34" charset="0"/>
            </a:endParaRPr>
          </a:p>
          <a:p>
            <a:endParaRPr lang="en-US" sz="2800" b="1" dirty="0">
              <a:latin typeface="Arial" panose="020B0604020202020204" pitchFamily="34" charset="0"/>
              <a:cs typeface="Arial" panose="020B0604020202020204" pitchFamily="34" charset="0"/>
            </a:endParaRPr>
          </a:p>
        </p:txBody>
      </p:sp>
      <p:sp>
        <p:nvSpPr>
          <p:cNvPr id="5" name="TextBox 4"/>
          <p:cNvSpPr txBox="1"/>
          <p:nvPr/>
        </p:nvSpPr>
        <p:spPr>
          <a:xfrm>
            <a:off x="226142" y="4953616"/>
            <a:ext cx="9311149" cy="646331"/>
          </a:xfrm>
          <a:prstGeom prst="rect">
            <a:avLst/>
          </a:prstGeom>
          <a:noFill/>
        </p:spPr>
        <p:txBody>
          <a:bodyPr wrap="square" rtlCol="0">
            <a:spAutoFit/>
          </a:bodyPr>
          <a:lstStyle/>
          <a:p>
            <a:r>
              <a:rPr lang="vi-VN" dirty="0"/>
              <a:t>.</a:t>
            </a:r>
            <a:endParaRPr lang="en-US" dirty="0"/>
          </a:p>
          <a:p>
            <a:endParaRPr lang="en-US" dirty="0"/>
          </a:p>
        </p:txBody>
      </p:sp>
      <p:sp>
        <p:nvSpPr>
          <p:cNvPr id="3" name="TextBox 2"/>
          <p:cNvSpPr txBox="1"/>
          <p:nvPr/>
        </p:nvSpPr>
        <p:spPr>
          <a:xfrm>
            <a:off x="6230620" y="2270760"/>
            <a:ext cx="4754245" cy="4180840"/>
          </a:xfrm>
          <a:prstGeom prst="rect">
            <a:avLst/>
          </a:prstGeom>
          <a:noFill/>
        </p:spPr>
        <p:txBody>
          <a:bodyPr wrap="square" rtlCol="0">
            <a:noAutofit/>
          </a:bodyPr>
          <a:lstStyle/>
          <a:p>
            <a:pPr marL="285750" indent="-285750">
              <a:lnSpc>
                <a:spcPct val="120000"/>
              </a:lnSpc>
              <a:spcBef>
                <a:spcPts val="0"/>
              </a:spcBef>
              <a:spcAft>
                <a:spcPts val="0"/>
              </a:spcAft>
              <a:buFont typeface="Arial" panose="020B0604020202020204" pitchFamily="34" charset="0"/>
              <a:buChar char="•"/>
            </a:pPr>
            <a:r>
              <a:rPr lang="vi-VN" sz="2000" dirty="0"/>
              <a:t>Xây dựng mô hình dự đoán và phân khúc khách hàng để nâng cao hiệu quả chiến dịch tiếp thị tiền gửi có kỳ hạn.</a:t>
            </a:r>
            <a:endParaRPr lang="vi-VN" sz="2000" dirty="0"/>
          </a:p>
          <a:p>
            <a:pPr marL="285750" indent="-285750">
              <a:lnSpc>
                <a:spcPct val="120000"/>
              </a:lnSpc>
              <a:spcBef>
                <a:spcPts val="0"/>
              </a:spcBef>
              <a:spcAft>
                <a:spcPts val="0"/>
              </a:spcAft>
              <a:buFont typeface="Arial" panose="020B0604020202020204" pitchFamily="34" charset="0"/>
              <a:buChar char="•"/>
            </a:pPr>
            <a:r>
              <a:rPr lang="vi-VN" sz="2000" dirty="0"/>
              <a:t>Chuyển đổi dữ liệu thô thành kiến thức hữu ích, hỗ trợ ra quyết định kinh doanh theo nguyên tắc lý thuyết của CRISP-DM.</a:t>
            </a:r>
            <a:endParaRPr lang="vi-VN" sz="2000" dirty="0"/>
          </a:p>
          <a:p>
            <a:pPr marL="285750" indent="-285750">
              <a:lnSpc>
                <a:spcPct val="120000"/>
              </a:lnSpc>
              <a:spcBef>
                <a:spcPts val="0"/>
              </a:spcBef>
              <a:spcAft>
                <a:spcPts val="0"/>
              </a:spcAft>
              <a:buFont typeface="Arial" panose="020B0604020202020204" pitchFamily="34" charset="0"/>
              <a:buChar char="•"/>
            </a:pPr>
            <a:r>
              <a:rPr lang="vi-VN" sz="2000" dirty="0"/>
              <a:t>Góp phần giải quyết vấn đề lãng phí nguồn lực trong tiếp thị ngân hàng.</a:t>
            </a:r>
            <a:endParaRPr lang="en-US" sz="2000" dirty="0"/>
          </a:p>
          <a:p>
            <a:pPr marL="285750" indent="-285750">
              <a:lnSpc>
                <a:spcPct val="120000"/>
              </a:lnSpc>
              <a:spcBef>
                <a:spcPts val="0"/>
              </a:spcBef>
              <a:spcAft>
                <a:spcPts val="0"/>
              </a:spcAft>
              <a:buFont typeface="Arial" panose="020B0604020202020204" pitchFamily="34" charset="0"/>
              <a:buChar char="•"/>
            </a:pPr>
            <a:endParaRPr lang="en-US" sz="2000" dirty="0"/>
          </a:p>
        </p:txBody>
      </p:sp>
      <p:sp>
        <p:nvSpPr>
          <p:cNvPr id="9" name="TextBox 8"/>
          <p:cNvSpPr txBox="1"/>
          <p:nvPr/>
        </p:nvSpPr>
        <p:spPr>
          <a:xfrm>
            <a:off x="226060" y="457200"/>
            <a:ext cx="8190230" cy="704215"/>
          </a:xfrm>
          <a:prstGeom prst="rect">
            <a:avLst/>
          </a:prstGeom>
          <a:noFill/>
        </p:spPr>
        <p:txBody>
          <a:bodyPr wrap="square" rtlCol="0">
            <a:noAutofit/>
          </a:bodyPr>
          <a:lstStyle/>
          <a:p>
            <a:r>
              <a:rPr lang="vi-VN" sz="4000" b="1" dirty="0">
                <a:latin typeface="Arial" panose="020B0604020202020204" pitchFamily="34" charset="0"/>
                <a:cs typeface="Arial" panose="020B0604020202020204" pitchFamily="34" charset="0"/>
              </a:rPr>
              <a:t>PHƯƠNG PHÁP NGHIÊN CỨU</a:t>
            </a:r>
            <a:endParaRPr lang="vi-VN" sz="4000" b="1" dirty="0">
              <a:latin typeface="Arial" panose="020B0604020202020204" pitchFamily="34" charset="0"/>
              <a:cs typeface="Arial" panose="020B0604020202020204" pitchFamily="34" charset="0"/>
            </a:endParaRPr>
          </a:p>
          <a:p>
            <a:endParaRPr lang="en-US" sz="4000" b="1" dirty="0">
              <a:latin typeface="Arial" panose="020B0604020202020204" pitchFamily="34" charset="0"/>
              <a:cs typeface="Arial" panose="020B0604020202020204" pitchFamily="34" charset="0"/>
            </a:endParaRPr>
          </a:p>
        </p:txBody>
      </p:sp>
      <p:pic>
        <p:nvPicPr>
          <p:cNvPr id="290" name="Picture 2" descr="IMG_256"/>
          <p:cNvPicPr>
            <a:picLocks noChangeAspect="1"/>
          </p:cNvPicPr>
          <p:nvPr/>
        </p:nvPicPr>
        <p:blipFill>
          <a:blip r:embed="rId1"/>
          <a:stretch>
            <a:fillRect/>
          </a:stretch>
        </p:blipFill>
        <p:spPr>
          <a:xfrm>
            <a:off x="662305" y="1379220"/>
            <a:ext cx="5115560" cy="494474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6060" y="427355"/>
            <a:ext cx="11130280" cy="728980"/>
          </a:xfrm>
          <a:prstGeom prst="rect">
            <a:avLst/>
          </a:prstGeom>
          <a:noFill/>
        </p:spPr>
        <p:txBody>
          <a:bodyPr wrap="square" rtlCol="0">
            <a:noAutofit/>
          </a:bodyPr>
          <a:lstStyle/>
          <a:p>
            <a:r>
              <a:rPr lang="vi-VN" sz="4000" b="1" dirty="0">
                <a:latin typeface="Arial" panose="020B0604020202020204" pitchFamily="34" charset="0"/>
                <a:cs typeface="Arial" panose="020B0604020202020204" pitchFamily="34" charset="0"/>
              </a:rPr>
              <a:t>CÂU HỎI NGHIÊN </a:t>
            </a:r>
            <a:r>
              <a:rPr lang="vi-VN" sz="4000" b="1" dirty="0">
                <a:latin typeface="Arial" panose="020B0604020202020204" pitchFamily="34" charset="0"/>
                <a:cs typeface="Arial" panose="020B0604020202020204" pitchFamily="34" charset="0"/>
              </a:rPr>
              <a:t>CỨU</a:t>
            </a:r>
            <a:endParaRPr lang="vi-VN" sz="4000" b="1" dirty="0">
              <a:latin typeface="Arial" panose="020B0604020202020204" pitchFamily="34" charset="0"/>
              <a:cs typeface="Arial" panose="020B0604020202020204" pitchFamily="34" charset="0"/>
            </a:endParaRPr>
          </a:p>
        </p:txBody>
      </p:sp>
      <p:sp>
        <p:nvSpPr>
          <p:cNvPr id="5" name="TextBox 4"/>
          <p:cNvSpPr txBox="1"/>
          <p:nvPr/>
        </p:nvSpPr>
        <p:spPr>
          <a:xfrm>
            <a:off x="226060" y="1567815"/>
            <a:ext cx="11603355" cy="4274185"/>
          </a:xfrm>
          <a:prstGeom prst="rect">
            <a:avLst/>
          </a:prstGeom>
          <a:noFill/>
        </p:spPr>
        <p:txBody>
          <a:bodyPr wrap="square" rtlCol="0">
            <a:noAutofit/>
          </a:bodyPr>
          <a:lstStyle/>
          <a:p>
            <a:pPr lvl="0" indent="0">
              <a:lnSpc>
                <a:spcPct val="120000"/>
              </a:lnSpc>
              <a:spcBef>
                <a:spcPts val="0"/>
              </a:spcBef>
              <a:spcAft>
                <a:spcPts val="0"/>
              </a:spcAft>
              <a:buFont typeface="+mj-lt"/>
              <a:buNone/>
            </a:pPr>
            <a:r>
              <a:rPr lang="vi-VN" sz="2000" b="1" u="sng" dirty="0">
                <a:solidFill>
                  <a:schemeClr val="tx1"/>
                </a:solidFill>
                <a:sym typeface="+mn-ea"/>
              </a:rPr>
              <a:t>Câu hỏi 1:</a:t>
            </a:r>
            <a:r>
              <a:rPr lang="vi-VN" sz="2000" dirty="0">
                <a:sym typeface="+mn-ea"/>
              </a:rPr>
              <a:t> Những yếu tố nào (nhân khẩu học, kinh tế vĩ mô, lịch sử liên hệ) là quan trọng nhất ảnh hưởng đến quyết định đăng ký tiền gửi có kỳ hạn của khách hàng?</a:t>
            </a:r>
            <a:endParaRPr lang="vi-VN" sz="2000" dirty="0">
              <a:sym typeface="+mn-ea"/>
            </a:endParaRPr>
          </a:p>
          <a:p>
            <a:pPr lvl="0" indent="0">
              <a:lnSpc>
                <a:spcPct val="120000"/>
              </a:lnSpc>
              <a:spcBef>
                <a:spcPts val="0"/>
              </a:spcBef>
              <a:spcAft>
                <a:spcPts val="0"/>
              </a:spcAft>
              <a:buFont typeface="+mj-lt"/>
              <a:buNone/>
            </a:pPr>
            <a:endParaRPr lang="en-US" sz="2000" dirty="0"/>
          </a:p>
          <a:p>
            <a:pPr lvl="0" indent="0">
              <a:lnSpc>
                <a:spcPct val="120000"/>
              </a:lnSpc>
              <a:spcBef>
                <a:spcPts val="0"/>
              </a:spcBef>
              <a:spcAft>
                <a:spcPts val="0"/>
              </a:spcAft>
              <a:buFont typeface="+mj-lt"/>
              <a:buNone/>
            </a:pPr>
            <a:r>
              <a:rPr lang="vi-VN" sz="2000" b="1" u="sng" dirty="0">
                <a:sym typeface="+mn-ea"/>
              </a:rPr>
              <a:t>Câu hỏi 2:</a:t>
            </a:r>
            <a:r>
              <a:rPr lang="vi-VN" sz="2000" dirty="0">
                <a:sym typeface="+mn-ea"/>
              </a:rPr>
              <a:t> Mô hình học máy có thể dự đoán chính xác khách hàng nào sẽ đồng ý (y = yes) với mức độ tin cậy và hiệu suất (ví dụ: F1-score) là bao nhiêu?</a:t>
            </a:r>
            <a:endParaRPr lang="vi-VN" sz="2000" dirty="0">
              <a:sym typeface="+mn-ea"/>
            </a:endParaRPr>
          </a:p>
          <a:p>
            <a:pPr lvl="0" indent="0">
              <a:lnSpc>
                <a:spcPct val="120000"/>
              </a:lnSpc>
              <a:spcBef>
                <a:spcPts val="0"/>
              </a:spcBef>
              <a:spcAft>
                <a:spcPts val="0"/>
              </a:spcAft>
              <a:buFont typeface="+mj-lt"/>
              <a:buNone/>
            </a:pPr>
            <a:endParaRPr lang="en-US" sz="2000" dirty="0"/>
          </a:p>
          <a:p>
            <a:pPr lvl="0" indent="0">
              <a:lnSpc>
                <a:spcPct val="120000"/>
              </a:lnSpc>
              <a:spcBef>
                <a:spcPts val="0"/>
              </a:spcBef>
              <a:spcAft>
                <a:spcPts val="0"/>
              </a:spcAft>
              <a:buFont typeface="+mj-lt"/>
              <a:buNone/>
            </a:pPr>
            <a:r>
              <a:rPr lang="vi-VN" sz="2000" b="1" u="sng" dirty="0">
                <a:sym typeface="+mn-ea"/>
              </a:rPr>
              <a:t>Câu hỏi 3:</a:t>
            </a:r>
            <a:r>
              <a:rPr lang="vi-VN" sz="2000" dirty="0">
                <a:sym typeface="+mn-ea"/>
              </a:rPr>
              <a:t> Khách hàng có thể được phân nhóm (segment) thành các cụm đặc trưng riêng biệt dựa trên hồ sơ và hành vi của họ không?</a:t>
            </a:r>
            <a:endParaRPr lang="vi-VN" sz="2000" dirty="0">
              <a:sym typeface="+mn-ea"/>
            </a:endParaRPr>
          </a:p>
          <a:p>
            <a:pPr lvl="0" indent="0">
              <a:lnSpc>
                <a:spcPct val="120000"/>
              </a:lnSpc>
              <a:spcBef>
                <a:spcPts val="0"/>
              </a:spcBef>
              <a:spcAft>
                <a:spcPts val="0"/>
              </a:spcAft>
              <a:buFont typeface="+mj-lt"/>
              <a:buNone/>
            </a:pPr>
            <a:endParaRPr lang="en-US" sz="2000" dirty="0"/>
          </a:p>
          <a:p>
            <a:pPr lvl="0" indent="0">
              <a:lnSpc>
                <a:spcPct val="120000"/>
              </a:lnSpc>
              <a:spcBef>
                <a:spcPts val="0"/>
              </a:spcBef>
              <a:spcAft>
                <a:spcPts val="0"/>
              </a:spcAft>
              <a:buFont typeface="+mj-lt"/>
              <a:buNone/>
            </a:pPr>
            <a:r>
              <a:rPr lang="vi-VN" sz="2000" b="1" u="sng" dirty="0">
                <a:sym typeface="+mn-ea"/>
              </a:rPr>
              <a:t>Câu hỏi 4:</a:t>
            </a:r>
            <a:r>
              <a:rPr lang="vi-VN" sz="2000" dirty="0">
                <a:sym typeface="+mn-ea"/>
              </a:rPr>
              <a:t> Cần có những chiến lược tiếp thị khác biệt nào cho từng cụm để tối ưu hóa hiệu quả chuyển đổi?</a:t>
            </a:r>
            <a:endParaRPr lang="vi-V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915" y="107950"/>
            <a:ext cx="7942580" cy="521970"/>
          </a:xfrm>
          <a:prstGeom prst="rect">
            <a:avLst/>
          </a:prstGeom>
          <a:noFill/>
        </p:spPr>
        <p:txBody>
          <a:bodyPr wrap="square" rtlCol="0">
            <a:spAutoFit/>
          </a:bodyPr>
          <a:lstStyle/>
          <a:p>
            <a:r>
              <a:rPr lang="vi-VN" sz="2800" b="1" dirty="0">
                <a:latin typeface="Arial" panose="020B0604020202020204" pitchFamily="34" charset="0"/>
                <a:cs typeface="Arial" panose="020B0604020202020204" pitchFamily="34" charset="0"/>
              </a:rPr>
              <a:t>TRẢ LỜI CÂU HỎI NGHIÊN CỨU</a:t>
            </a:r>
            <a:endParaRPr lang="vi-VN" sz="2800" b="1" dirty="0">
              <a:latin typeface="Arial" panose="020B0604020202020204" pitchFamily="34" charset="0"/>
              <a:cs typeface="Arial" panose="020B0604020202020204" pitchFamily="34" charset="0"/>
            </a:endParaRPr>
          </a:p>
        </p:txBody>
      </p:sp>
      <p:sp>
        <p:nvSpPr>
          <p:cNvPr id="3" name="TextBox 2"/>
          <p:cNvSpPr txBox="1"/>
          <p:nvPr/>
        </p:nvSpPr>
        <p:spPr>
          <a:xfrm>
            <a:off x="589935" y="693363"/>
            <a:ext cx="11395588" cy="5908040"/>
          </a:xfrm>
          <a:prstGeom prst="rect">
            <a:avLst/>
          </a:prstGeom>
          <a:noFill/>
        </p:spPr>
        <p:txBody>
          <a:bodyPr wrap="square" rtlCol="0">
            <a:spAutoFit/>
          </a:bodyPr>
          <a:lstStyle/>
          <a:p>
            <a:r>
              <a:rPr lang="vi-VN" b="1" dirty="0">
                <a:latin typeface="Arial" panose="020B0604020202020204" pitchFamily="34" charset="0"/>
                <a:cs typeface="Arial" panose="020B0604020202020204" pitchFamily="34" charset="0"/>
              </a:rPr>
              <a:t>1. Những yếu tố nào (nhân khẩu học, kinh tế vĩ mô, lịch sử liên hệ) là quan trọng nhất ảnh hưởng đến quyết định đăng kí tiền gửi có kỳ hạn của khách hàng?</a:t>
            </a:r>
            <a:endParaRPr lang="vi-VN"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Kinh tế vĩ mô: </a:t>
            </a:r>
            <a:r>
              <a:rPr lang="en-US" altLang="en-US" dirty="0">
                <a:latin typeface="Arial" panose="020B0604020202020204" pitchFamily="34" charset="0"/>
                <a:cs typeface="Arial" panose="020B0604020202020204" pitchFamily="34" charset="0"/>
              </a:rPr>
              <a:t>nr.employed</a:t>
            </a:r>
            <a:r>
              <a:rPr lang="vi-VN" altLang="en-US" dirty="0">
                <a:latin typeface="Arial" panose="020B0604020202020204" pitchFamily="34" charset="0"/>
                <a:cs typeface="Arial" panose="020B0604020202020204" pitchFamily="34" charset="0"/>
              </a:rPr>
              <a:t> và </a:t>
            </a:r>
            <a:r>
              <a:rPr lang="en-US" altLang="en-US" dirty="0">
                <a:latin typeface="Arial" panose="020B0604020202020204" pitchFamily="34" charset="0"/>
                <a:cs typeface="Arial" panose="020B0604020202020204" pitchFamily="34" charset="0"/>
              </a:rPr>
              <a:t>euribor3m</a:t>
            </a:r>
            <a:r>
              <a:rPr lang="vi-VN" altLang="en-US" dirty="0">
                <a:latin typeface="Arial" panose="020B0604020202020204" pitchFamily="34" charset="0"/>
                <a:cs typeface="Arial" panose="020B0604020202020204" pitchFamily="34" charset="0"/>
              </a:rPr>
              <a:t>.</a:t>
            </a:r>
            <a:endParaRPr lang="en-US" alt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Lịch sử liên hệ: </a:t>
            </a:r>
            <a:r>
              <a:rPr lang="en-US" altLang="en-US" dirty="0">
                <a:latin typeface="Arial" panose="020B0604020202020204" pitchFamily="34" charset="0"/>
                <a:cs typeface="Arial" panose="020B0604020202020204" pitchFamily="34" charset="0"/>
              </a:rPr>
              <a:t>poutcome</a:t>
            </a:r>
            <a:r>
              <a:rPr lang="vi-VN" altLang="en-US" dirty="0">
                <a:latin typeface="Arial" panose="020B0604020202020204" pitchFamily="34" charset="0"/>
                <a:cs typeface="Arial" panose="020B0604020202020204" pitchFamily="34" charset="0"/>
              </a:rPr>
              <a:t> = “</a:t>
            </a:r>
            <a:r>
              <a:rPr lang="en-US" altLang="en-US" dirty="0">
                <a:latin typeface="Arial" panose="020B0604020202020204" pitchFamily="34" charset="0"/>
                <a:cs typeface="Arial" panose="020B0604020202020204" pitchFamily="34" charset="0"/>
              </a:rPr>
              <a:t>success</a:t>
            </a:r>
            <a:r>
              <a:rPr lang="vi-VN" altLang="en-US" dirty="0">
                <a:latin typeface="Arial" panose="020B0604020202020204" pitchFamily="34" charset="0"/>
                <a:cs typeface="Arial" panose="020B0604020202020204" pitchFamily="34" charset="0"/>
              </a:rPr>
              <a:t>” và pdays.</a:t>
            </a:r>
            <a:endParaRPr lang="en-US" alt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Nhân khẩu học: age.</a:t>
            </a:r>
            <a:endParaRPr lang="vi-VN" dirty="0">
              <a:latin typeface="Arial" panose="020B0604020202020204" pitchFamily="34" charset="0"/>
              <a:cs typeface="Arial" panose="020B0604020202020204" pitchFamily="34" charset="0"/>
            </a:endParaRPr>
          </a:p>
          <a:p>
            <a:endParaRPr lang="vi-VN" b="1" dirty="0">
              <a:latin typeface="Arial" panose="020B0604020202020204" pitchFamily="34" charset="0"/>
              <a:cs typeface="Arial" panose="020B0604020202020204" pitchFamily="34" charset="0"/>
            </a:endParaRPr>
          </a:p>
          <a:p>
            <a:r>
              <a:rPr lang="vi-VN" b="1" dirty="0">
                <a:latin typeface="Arial" panose="020B0604020202020204" pitchFamily="34" charset="0"/>
                <a:cs typeface="Arial" panose="020B0604020202020204" pitchFamily="34" charset="0"/>
              </a:rPr>
              <a:t>2. Mô hình học máy có thể dự đoán chính xác khách hàng nào sẽ đồng ý (y = yes) với mức độ tin cậy và hiệu suất (ví dụ: F1-score) là bao nhiêu?</a:t>
            </a:r>
            <a:endParaRPr lang="vi-VN"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Random Forest: Precision đạt 0.4922 và Recall đạt 0.5</a:t>
            </a:r>
            <a:r>
              <a:rPr lang="vi-VN" dirty="0">
                <a:latin typeface="Arial" panose="020B0604020202020204" pitchFamily="34" charset="0"/>
                <a:cs typeface="Arial" panose="020B0604020202020204" pitchFamily="34" charset="0"/>
              </a:rPr>
              <a:t>453.</a:t>
            </a:r>
            <a:endParaRPr lang="vi-VN" dirty="0">
              <a:latin typeface="Arial" panose="020B0604020202020204" pitchFamily="34" charset="0"/>
              <a:cs typeface="Arial" panose="020B0604020202020204" pitchFamily="34" charset="0"/>
            </a:endParaRPr>
          </a:p>
          <a:p>
            <a:endParaRPr lang="vi-VN" b="1" dirty="0">
              <a:latin typeface="Arial" panose="020B0604020202020204" pitchFamily="34" charset="0"/>
              <a:cs typeface="Arial" panose="020B0604020202020204" pitchFamily="34" charset="0"/>
            </a:endParaRPr>
          </a:p>
          <a:p>
            <a:r>
              <a:rPr lang="vi-VN" b="1" dirty="0">
                <a:latin typeface="Arial" panose="020B0604020202020204" pitchFamily="34" charset="0"/>
                <a:cs typeface="Arial" panose="020B0604020202020204" pitchFamily="34" charset="0"/>
              </a:rPr>
              <a:t>3. Khách hàng có thể được phân nhóm (segment) thành các cụm đặc trưng riêng biệt dựa trên hồ sơ và hành vi của họ không?</a:t>
            </a:r>
            <a:endParaRPr lang="en-US"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vi-VN" dirty="0">
                <a:latin typeface="Arial" panose="020B0604020202020204" pitchFamily="34" charset="0"/>
                <a:cs typeface="Arial" panose="020B0604020202020204" pitchFamily="34" charset="0"/>
              </a:rPr>
              <a:t>Cụm 0 (Tiềm năng thấp/Mới): Chiếm đa số, gồm những người chưa từng hoặc liên hệ thất bại trước đó.</a:t>
            </a:r>
            <a:endParaRPr lang="en-US"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vi-VN" dirty="0">
                <a:latin typeface="Arial" panose="020B0604020202020204" pitchFamily="34" charset="0"/>
                <a:cs typeface="Arial" panose="020B0604020202020204" pitchFamily="34" charset="0"/>
              </a:rPr>
              <a:t>Cụm 1 (Phản hồi tích cực): Nhóm khách hàng cốt lõi đã có trải nghiệm tốt với dịch vụ ngân hàng, có tỷ lệ chuyển đổi vượt trội.</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vi-VN" b="1" dirty="0">
              <a:latin typeface="Arial" panose="020B0604020202020204" pitchFamily="34" charset="0"/>
              <a:cs typeface="Arial" panose="020B0604020202020204" pitchFamily="34" charset="0"/>
            </a:endParaRPr>
          </a:p>
          <a:p>
            <a:r>
              <a:rPr lang="vi-VN" b="1" dirty="0">
                <a:latin typeface="Arial" panose="020B0604020202020204" pitchFamily="34" charset="0"/>
                <a:cs typeface="Arial" panose="020B0604020202020204" pitchFamily="34" charset="0"/>
              </a:rPr>
              <a:t>4. Cần có những chiến lược tiếp thị khác biệt nào cho từng cụm để tối ưu hóa hiệu quả chuyển đổi?</a:t>
            </a:r>
            <a:endParaRPr lang="vi-VN"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Đối với cụm tiềm năng thấp: tập trung vào việc xây dựng lòng tin qua các kênh ít phiền hà và nhấn mạnh vào tính an toàn của vốn. </a:t>
            </a:r>
            <a:endParaRPr lang="vi-V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dirty="0">
                <a:latin typeface="Arial" panose="020B0604020202020204" pitchFamily="34" charset="0"/>
                <a:cs typeface="Arial" panose="020B0604020202020204" pitchFamily="34" charset="0"/>
              </a:rPr>
              <a:t>Đối với cụm phản hồi tích cực: cần áp dụng các ưu đãi đặc quyền, tư vấn tài chính riêng biệt và thực hiện bán chéo (cross-sell) các sản phẩm giá trị cao khác.</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5465" y="422910"/>
            <a:ext cx="11101070" cy="645160"/>
          </a:xfrm>
          <a:prstGeom prst="rect">
            <a:avLst/>
          </a:prstGeom>
          <a:noFill/>
        </p:spPr>
        <p:txBody>
          <a:bodyPr wrap="square" rtlCol="0">
            <a:spAutoFit/>
          </a:bodyPr>
          <a:lstStyle/>
          <a:p>
            <a:r>
              <a:rPr lang="vi-VN" sz="3600" b="1" dirty="0">
                <a:latin typeface="Arial" panose="020B0604020202020204" pitchFamily="34" charset="0"/>
                <a:cs typeface="Arial" panose="020B0604020202020204" pitchFamily="34" charset="0"/>
              </a:rPr>
              <a:t>KẾT LUẬN VÀ HƯỚNG NGHIÊN CỨU TIẾP THEO</a:t>
            </a:r>
            <a:endParaRPr lang="en-US" sz="3600" b="1" dirty="0">
              <a:latin typeface="Arial" panose="020B0604020202020204" pitchFamily="34" charset="0"/>
              <a:cs typeface="Arial" panose="020B0604020202020204" pitchFamily="34" charset="0"/>
            </a:endParaRPr>
          </a:p>
        </p:txBody>
      </p:sp>
      <p:sp>
        <p:nvSpPr>
          <p:cNvPr id="4" name="TextBox 3"/>
          <p:cNvSpPr txBox="1"/>
          <p:nvPr/>
        </p:nvSpPr>
        <p:spPr>
          <a:xfrm>
            <a:off x="220980" y="1238885"/>
            <a:ext cx="11749405" cy="2773680"/>
          </a:xfrm>
          <a:prstGeom prst="rect">
            <a:avLst/>
          </a:prstGeom>
          <a:noFill/>
        </p:spPr>
        <p:txBody>
          <a:bodyPr wrap="square" rtlCol="0">
            <a:noAutofit/>
          </a:bodyPr>
          <a:lstStyle/>
          <a:p>
            <a:pPr marL="285750" lvl="0" indent="-285750">
              <a:lnSpc>
                <a:spcPct val="120000"/>
              </a:lnSpc>
              <a:spcBef>
                <a:spcPts val="0"/>
              </a:spcBef>
              <a:spcAft>
                <a:spcPts val="0"/>
              </a:spcAft>
              <a:buFont typeface="Arial" panose="020B0604020202020204" pitchFamily="34" charset="0"/>
              <a:buChar char="•"/>
            </a:pPr>
            <a:r>
              <a:rPr lang="vi-VN" sz="2000" b="1" dirty="0"/>
              <a:t>Xây dựng mô hình dự đoán</a:t>
            </a:r>
            <a:r>
              <a:rPr lang="vi-VN" sz="2000" dirty="0"/>
              <a:t>: Mô hình Random Forest sau khi tối ưu hóa đã đạt được chỉ số F1-Score là 0.517</a:t>
            </a:r>
            <a:r>
              <a:rPr lang="vi-VN" sz="2000" dirty="0"/>
              <a:t>4 trên tập kiểm tra.</a:t>
            </a:r>
            <a:endParaRPr lang="en-US" sz="2000" dirty="0"/>
          </a:p>
          <a:p>
            <a:pPr marL="285750" lvl="0" indent="-285750">
              <a:lnSpc>
                <a:spcPct val="120000"/>
              </a:lnSpc>
              <a:spcBef>
                <a:spcPts val="0"/>
              </a:spcBef>
              <a:spcAft>
                <a:spcPts val="0"/>
              </a:spcAft>
              <a:buFont typeface="Arial" panose="020B0604020202020204" pitchFamily="34" charset="0"/>
              <a:buChar char="•"/>
            </a:pPr>
            <a:r>
              <a:rPr lang="vi-VN" sz="2000" b="1" dirty="0"/>
              <a:t>Phân khúc khách hàng</a:t>
            </a:r>
            <a:r>
              <a:rPr lang="vi-VN" sz="2000" dirty="0"/>
              <a:t>: Sử dụng thuật toán K-Means đã xác định được 2 nhóm khách hàng rõ rệt dựa trên lịch sử tương tác, giúp cá nhân hóa chiến lược tiếp thị thay vì tiếp cận đại trà.</a:t>
            </a:r>
            <a:endParaRPr lang="en-US" sz="2000" dirty="0"/>
          </a:p>
          <a:p>
            <a:pPr marL="285750" lvl="0" indent="-285750">
              <a:lnSpc>
                <a:spcPct val="120000"/>
              </a:lnSpc>
              <a:spcBef>
                <a:spcPts val="0"/>
              </a:spcBef>
              <a:spcAft>
                <a:spcPts val="0"/>
              </a:spcAft>
              <a:buFont typeface="Arial" panose="020B0604020202020204" pitchFamily="34" charset="0"/>
              <a:buChar char="•"/>
            </a:pPr>
            <a:r>
              <a:rPr lang="vi-VN" sz="2000" b="1" dirty="0"/>
              <a:t>Xác định biến quan trọng</a:t>
            </a:r>
            <a:r>
              <a:rPr lang="vi-VN" sz="2000" dirty="0"/>
              <a:t>: Các yếu tố kinh tế vĩ mô (lãi suất Euribor, số lượng nhân viên) và lịch sử thành công của chiến dịch trước đó là những nhân tố quyết định đến khả năng chuyển đổi của khách hàng.</a:t>
            </a:r>
            <a:endParaRPr lang="en-US" sz="2000" dirty="0"/>
          </a:p>
          <a:p>
            <a:pPr marL="285750" indent="-285750">
              <a:lnSpc>
                <a:spcPct val="120000"/>
              </a:lnSpc>
              <a:spcBef>
                <a:spcPts val="0"/>
              </a:spcBef>
              <a:spcAft>
                <a:spcPts val="0"/>
              </a:spcAft>
              <a:buFont typeface="Arial" panose="020B0604020202020204" pitchFamily="34" charset="0"/>
              <a:buChar char="•"/>
            </a:pPr>
            <a:endParaRPr lang="en-US" sz="2000" dirty="0"/>
          </a:p>
        </p:txBody>
      </p:sp>
      <p:sp>
        <p:nvSpPr>
          <p:cNvPr id="5" name="TextBox 4"/>
          <p:cNvSpPr txBox="1"/>
          <p:nvPr/>
        </p:nvSpPr>
        <p:spPr>
          <a:xfrm>
            <a:off x="290830" y="3584575"/>
            <a:ext cx="11680190" cy="3113405"/>
          </a:xfrm>
          <a:prstGeom prst="rect">
            <a:avLst/>
          </a:prstGeom>
          <a:noFill/>
        </p:spPr>
        <p:txBody>
          <a:bodyPr wrap="square" rtlCol="0">
            <a:noAutofit/>
          </a:bodyPr>
          <a:lstStyle/>
          <a:p>
            <a:pPr>
              <a:lnSpc>
                <a:spcPct val="120000"/>
              </a:lnSpc>
              <a:spcBef>
                <a:spcPts val="0"/>
              </a:spcBef>
              <a:spcAft>
                <a:spcPts val="0"/>
              </a:spcAft>
            </a:pPr>
            <a:endParaRPr lang="vi-VN" sz="2000" dirty="0"/>
          </a:p>
          <a:p>
            <a:pPr>
              <a:lnSpc>
                <a:spcPct val="120000"/>
              </a:lnSpc>
              <a:spcBef>
                <a:spcPts val="0"/>
              </a:spcBef>
              <a:spcAft>
                <a:spcPts val="0"/>
              </a:spcAft>
            </a:pPr>
            <a:r>
              <a:rPr lang="vi-VN" sz="2000" dirty="0"/>
              <a:t>Trong các nghiên cứu tiếp theo, để đưa mô hình vào ứng dụng thực tiễn tại các ngân hàng lớn, đề tài chúng tôi đề xuất các hướng thay đổi và phát triển như sau:</a:t>
            </a:r>
            <a:endParaRPr lang="vi-VN" sz="2000" dirty="0"/>
          </a:p>
          <a:p>
            <a:pPr marL="285750" indent="-285750">
              <a:lnSpc>
                <a:spcPct val="120000"/>
              </a:lnSpc>
              <a:spcBef>
                <a:spcPts val="0"/>
              </a:spcBef>
              <a:spcAft>
                <a:spcPts val="0"/>
              </a:spcAft>
              <a:buFont typeface="Arial" panose="020B0604020202020204" pitchFamily="34" charset="0"/>
              <a:buChar char="•"/>
            </a:pPr>
            <a:r>
              <a:rPr lang="vi-VN" sz="2000" b="1" dirty="0"/>
              <a:t>Áp dụng cơ chế xử lý Real-time</a:t>
            </a:r>
            <a:endParaRPr lang="vi-VN" sz="2000" b="1" dirty="0"/>
          </a:p>
          <a:p>
            <a:pPr marL="285750" indent="-285750">
              <a:lnSpc>
                <a:spcPct val="120000"/>
              </a:lnSpc>
              <a:spcBef>
                <a:spcPts val="0"/>
              </a:spcBef>
              <a:spcAft>
                <a:spcPts val="0"/>
              </a:spcAft>
              <a:buFont typeface="Arial" panose="020B0604020202020204" pitchFamily="34" charset="0"/>
              <a:buChar char="•"/>
            </a:pPr>
            <a:r>
              <a:rPr lang="vi-VN" sz="2000" b="1" dirty="0"/>
              <a:t>Xây dựng hệ thống cảnh báo tự động</a:t>
            </a:r>
            <a:endParaRPr lang="vi-VN" sz="2000" b="1" dirty="0"/>
          </a:p>
          <a:p>
            <a:pPr marL="285750" indent="-285750">
              <a:lnSpc>
                <a:spcPct val="120000"/>
              </a:lnSpc>
              <a:spcBef>
                <a:spcPts val="0"/>
              </a:spcBef>
              <a:spcAft>
                <a:spcPts val="0"/>
              </a:spcAft>
              <a:buFont typeface="Arial" panose="020B0604020202020204" pitchFamily="34" charset="0"/>
              <a:buChar char="•"/>
            </a:pPr>
            <a:r>
              <a:rPr lang="vi-VN" sz="2000" b="1" dirty="0"/>
              <a:t>Làm giàu dữ liệu (Data Enrichment)</a:t>
            </a:r>
            <a:endParaRPr lang="vi-VN" sz="2000" b="1" dirty="0"/>
          </a:p>
          <a:p>
            <a:pPr marL="285750" indent="-285750">
              <a:lnSpc>
                <a:spcPct val="120000"/>
              </a:lnSpc>
              <a:spcBef>
                <a:spcPts val="0"/>
              </a:spcBef>
              <a:spcAft>
                <a:spcPts val="0"/>
              </a:spcAft>
              <a:buFont typeface="Arial" panose="020B0604020202020204" pitchFamily="34" charset="0"/>
              <a:buChar char="•"/>
            </a:pPr>
            <a:r>
              <a:rPr lang="vi-VN" sz="2000" b="1" dirty="0"/>
              <a:t>Thử nghiệm các thuật toán Deep Learning</a:t>
            </a:r>
            <a:endParaRPr lang="vi-VN" sz="2000" b="1" dirty="0"/>
          </a:p>
          <a:p>
            <a:pPr marL="285750" indent="-285750">
              <a:lnSpc>
                <a:spcPct val="120000"/>
              </a:lnSpc>
              <a:spcBef>
                <a:spcPts val="0"/>
              </a:spcBef>
              <a:spcAft>
                <a:spcPts val="0"/>
              </a:spcAft>
              <a:buFont typeface="Arial" panose="020B0604020202020204" pitchFamily="34" charset="0"/>
              <a:buChar char="•"/>
            </a:pPr>
            <a:r>
              <a:rPr lang="vi-VN" sz="2000" b="1" dirty="0"/>
              <a:t>Tối ưu hóa bài toán kinh tế</a:t>
            </a:r>
            <a:endParaRPr lang="en-US" sz="2000" dirty="0"/>
          </a:p>
          <a:p>
            <a:pPr>
              <a:lnSpc>
                <a:spcPct val="120000"/>
              </a:lnSpc>
              <a:spcBef>
                <a:spcPts val="0"/>
              </a:spcBef>
              <a:spcAft>
                <a:spcPts val="0"/>
              </a:spcAft>
            </a:pPr>
            <a:endParaRPr lang="en-US" sz="2000" dirty="0"/>
          </a:p>
          <a:p>
            <a:pPr>
              <a:lnSpc>
                <a:spcPct val="120000"/>
              </a:lnSpc>
              <a:spcBef>
                <a:spcPts val="0"/>
              </a:spcBef>
              <a:spcAft>
                <a:spcPts val="0"/>
              </a:spcAft>
            </a:pPr>
            <a:endParaRPr lang="vi-VN" sz="2000" dirty="0"/>
          </a:p>
          <a:p>
            <a:pPr>
              <a:lnSpc>
                <a:spcPct val="120000"/>
              </a:lnSpc>
              <a:spcBef>
                <a:spcPts val="0"/>
              </a:spcBef>
              <a:spcAft>
                <a:spcPts val="0"/>
              </a:spcAft>
            </a:pPr>
            <a:endParaRPr lang="vi-VN"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3746</Words>
  <Application>WPS Presentation</Application>
  <PresentationFormat>Widescreen</PresentationFormat>
  <Paragraphs>81</Paragraphs>
  <Slides>6</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DengXian</vt:lpstr>
      <vt:lpstr>Calibri</vt:lpstr>
      <vt:lpstr>Microsoft YaHei</vt:lpstr>
      <vt:lpstr>Arial Unicode MS</vt:lpstr>
      <vt:lpstr>Calibri Light</vt:lpstr>
      <vt:lpstr>Office Theme</vt:lpstr>
      <vt:lpstr>VỀ DỰ ÁN</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Hữu Tấn</dc:creator>
  <cp:lastModifiedBy>Hoàng Sói</cp:lastModifiedBy>
  <cp:revision>12</cp:revision>
  <dcterms:created xsi:type="dcterms:W3CDTF">2025-12-22T11:32:00Z</dcterms:created>
  <dcterms:modified xsi:type="dcterms:W3CDTF">2026-09-22T02:01:29Z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CC362D1075514CA6BF5F589302621046_12</vt:lpwstr>
  </property>
  <property fmtid="{D5CDD505-2E9C-101B-9397-08002B2CF9AE}" pid="3" name="KSOProductBuildVer">
    <vt:lpwstr>1033-12.1.0.28485</vt:lpwstr>
  </property>
</Properties>
</file>